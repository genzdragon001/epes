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56545" autoAdjust="0"/>
  </p:normalViewPr>
  <p:slideViewPr>
    <p:cSldViewPr snapToGrid="0">
      <p:cViewPr varScale="1">
        <p:scale>
          <a:sx n="38" d="100"/>
          <a:sy n="38" d="100"/>
        </p:scale>
        <p:origin x="189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CA0DC-C5F7-45DC-AD79-3548EC4785FC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DB2B1-3C96-477A-A124-1E34DDB2C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90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Best Practices for Security and Compliance</a:t>
            </a: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 audits and assessments: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Conduct regular security and compliance audits to identify vulnerabilities, assess risk management practices, and ensure adherence to regulatory requirements.</a:t>
            </a:r>
          </a:p>
          <a:p>
            <a:pPr lv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Frequency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Schedule periodic audits and assessments to stay updated on emerging threats and changes in compliance regulations.</a:t>
            </a:r>
          </a:p>
          <a:p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training and awareness programs: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Provide ongoing security awareness training to employees, covering topics such as phishing, password management, and safe internet practices.</a:t>
            </a:r>
          </a:p>
          <a:p>
            <a:pPr lv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Awareness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Promote a culture of security awareness by regularly communicating potential threats and best practices.</a:t>
            </a:r>
          </a:p>
          <a:p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Incident response planning and management: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Incident Response Plan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Develop and document a comprehensive incident response plan to address security breaches and data loss. Include procedures for detecting, containing, and recovering from incidents.</a:t>
            </a:r>
          </a:p>
          <a:p>
            <a:pPr lv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Testing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Regularly test the incident response plan through drills and simulations to ensure preparedness and effectiveness in real-world scenarios.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9DB2B1-3C96-477A-A124-1E34DDB2C2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21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Security and Compliance in Enterprise Systems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1" y="3259719"/>
            <a:ext cx="11114937" cy="590321"/>
          </a:xfrm>
        </p:spPr>
        <p:txBody>
          <a:bodyPr numCol="1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Common Security Threats</a:t>
            </a:r>
            <a:endParaRPr lang="en-US" sz="20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Security Measures</a:t>
            </a:r>
            <a:endParaRPr lang="en-US" sz="20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Compliance Requirements</a:t>
            </a:r>
            <a:endParaRPr lang="en-US" sz="20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Best Practices for Security and Compliance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41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Common Security Threats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 smtClean="0">
                <a:latin typeface="Century Gothic" panose="020B0502020202020204" pitchFamily="34" charset="0"/>
              </a:rPr>
              <a:t>Cyberattacks</a:t>
            </a:r>
            <a:r>
              <a:rPr lang="en-US" sz="2400" dirty="0">
                <a:latin typeface="Century Gothic" panose="020B0502020202020204" pitchFamily="34" charset="0"/>
              </a:rPr>
              <a:t>: Types and prevention strategies.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Data breaches: Causes and mitigation measures.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Insider threats: Identifying and addressing internal risks</a:t>
            </a:r>
            <a:r>
              <a:rPr lang="en-US" sz="2400" dirty="0" smtClean="0">
                <a:latin typeface="Century Gothic" panose="020B0502020202020204" pitchFamily="34" charset="0"/>
              </a:rPr>
              <a:t>.</a:t>
            </a:r>
            <a:endParaRPr 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19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Cyberattacks: Types and prevention strategies</a:t>
            </a:r>
            <a:r>
              <a:rPr lang="en-US" b="1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000" b="1" dirty="0">
                <a:latin typeface="Century Gothic" panose="020B0502020202020204" pitchFamily="34" charset="0"/>
              </a:rPr>
              <a:t>Types of Cyberattacks:</a:t>
            </a:r>
            <a:endParaRPr lang="en-US" sz="20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000" b="1" dirty="0">
                <a:latin typeface="Century Gothic" panose="020B0502020202020204" pitchFamily="34" charset="0"/>
              </a:rPr>
              <a:t>Phishing</a:t>
            </a:r>
            <a:r>
              <a:rPr lang="en-US" sz="2000" dirty="0">
                <a:latin typeface="Century Gothic" panose="020B0502020202020204" pitchFamily="34" charset="0"/>
              </a:rPr>
              <a:t>: Attempts to deceive individuals into revealing sensitive information through fraudulent emails or websites.</a:t>
            </a:r>
          </a:p>
          <a:p>
            <a:pPr lvl="1" algn="just"/>
            <a:r>
              <a:rPr lang="en-US" sz="2000" b="1" dirty="0">
                <a:latin typeface="Century Gothic" panose="020B0502020202020204" pitchFamily="34" charset="0"/>
              </a:rPr>
              <a:t>Ransomware</a:t>
            </a:r>
            <a:r>
              <a:rPr lang="en-US" sz="2000" dirty="0">
                <a:latin typeface="Century Gothic" panose="020B0502020202020204" pitchFamily="34" charset="0"/>
              </a:rPr>
              <a:t>: Malicious software that encrypts a user’s data, demanding a ransom for decryption.</a:t>
            </a:r>
          </a:p>
          <a:p>
            <a:pPr lvl="1" algn="just"/>
            <a:r>
              <a:rPr lang="en-US" sz="2000" b="1" dirty="0">
                <a:latin typeface="Century Gothic" panose="020B0502020202020204" pitchFamily="34" charset="0"/>
              </a:rPr>
              <a:t>Malware</a:t>
            </a:r>
            <a:r>
              <a:rPr lang="en-US" sz="2000" dirty="0">
                <a:latin typeface="Century Gothic" panose="020B0502020202020204" pitchFamily="34" charset="0"/>
              </a:rPr>
              <a:t>: Software designed to harm or exploit systems, including viruses, worms, and spyware.</a:t>
            </a:r>
          </a:p>
          <a:p>
            <a:pPr lvl="1" algn="just"/>
            <a:r>
              <a:rPr lang="en-US" sz="2000" b="1" dirty="0" err="1">
                <a:latin typeface="Century Gothic" panose="020B0502020202020204" pitchFamily="34" charset="0"/>
              </a:rPr>
              <a:t>DDoS</a:t>
            </a:r>
            <a:r>
              <a:rPr lang="en-US" sz="2000" b="1" dirty="0">
                <a:latin typeface="Century Gothic" panose="020B0502020202020204" pitchFamily="34" charset="0"/>
              </a:rPr>
              <a:t> (Distributed Denial of Service)</a:t>
            </a:r>
            <a:r>
              <a:rPr lang="en-US" sz="2000" dirty="0">
                <a:latin typeface="Century Gothic" panose="020B0502020202020204" pitchFamily="34" charset="0"/>
              </a:rPr>
              <a:t>: Overloading a system or network with traffic to disrupt its normal operation.</a:t>
            </a:r>
          </a:p>
          <a:p>
            <a:pPr lvl="1" algn="just"/>
            <a:r>
              <a:rPr lang="en-US" sz="2000" b="1" dirty="0">
                <a:latin typeface="Century Gothic" panose="020B0502020202020204" pitchFamily="34" charset="0"/>
              </a:rPr>
              <a:t>SQL Injection</a:t>
            </a:r>
            <a:r>
              <a:rPr lang="en-US" sz="2000" dirty="0">
                <a:latin typeface="Century Gothic" panose="020B0502020202020204" pitchFamily="34" charset="0"/>
              </a:rPr>
              <a:t>: Attacks that exploit vulnerabilities in a web application’s database queries to access or manipulate data</a:t>
            </a:r>
            <a:r>
              <a:rPr lang="en-US" sz="2000" dirty="0" smtClean="0">
                <a:latin typeface="Century Gothic" panose="020B0502020202020204" pitchFamily="34" charset="0"/>
              </a:rPr>
              <a:t>.</a:t>
            </a:r>
            <a:endParaRPr lang="en-US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99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Cyberattacks: Types and prevention strategies</a:t>
            </a:r>
            <a:r>
              <a:rPr lang="en-US" b="1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800" b="1" dirty="0">
                <a:latin typeface="Century Gothic" panose="020B0502020202020204" pitchFamily="34" charset="0"/>
              </a:rPr>
              <a:t>Prevention Strategies:</a:t>
            </a:r>
            <a:endParaRPr lang="en-US" sz="28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Employee Training</a:t>
            </a:r>
            <a:r>
              <a:rPr lang="en-US" sz="2400" dirty="0">
                <a:latin typeface="Century Gothic" panose="020B0502020202020204" pitchFamily="34" charset="0"/>
              </a:rPr>
              <a:t>: Educate employees about recognizing phishing attempts and safe internet practices.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Anti-Malware Software</a:t>
            </a:r>
            <a:r>
              <a:rPr lang="en-US" sz="2400" dirty="0">
                <a:latin typeface="Century Gothic" panose="020B0502020202020204" pitchFamily="34" charset="0"/>
              </a:rPr>
              <a:t>: Use up-to-date anti-virus and anti-malware solutions to detect and prevent malicious threats.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Firewalls and Intrusion Detection Systems</a:t>
            </a:r>
            <a:r>
              <a:rPr lang="en-US" sz="2400" dirty="0">
                <a:latin typeface="Century Gothic" panose="020B0502020202020204" pitchFamily="34" charset="0"/>
              </a:rPr>
              <a:t>: Implement network security measures to monitor and block unauthorized access.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Regular Updates</a:t>
            </a:r>
            <a:r>
              <a:rPr lang="en-US" sz="2400" dirty="0">
                <a:latin typeface="Century Gothic" panose="020B0502020202020204" pitchFamily="34" charset="0"/>
              </a:rPr>
              <a:t>: Keep software and systems up-to-date with the latest security patches to address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263056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breaches: Causes and mitigation measures: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800" b="1" dirty="0">
                <a:latin typeface="Century Gothic" panose="020B0502020202020204" pitchFamily="34" charset="0"/>
              </a:rPr>
              <a:t>Causes of Data Breaches:</a:t>
            </a:r>
            <a:endParaRPr lang="en-US" sz="28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Weak Passwords</a:t>
            </a:r>
            <a:r>
              <a:rPr lang="en-US" sz="2400" dirty="0">
                <a:latin typeface="Century Gothic" panose="020B0502020202020204" pitchFamily="34" charset="0"/>
              </a:rPr>
              <a:t>: Use of easily guessable or compromised passwords.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Unpatched Software</a:t>
            </a:r>
            <a:r>
              <a:rPr lang="en-US" sz="2400" dirty="0">
                <a:latin typeface="Century Gothic" panose="020B0502020202020204" pitchFamily="34" charset="0"/>
              </a:rPr>
              <a:t>: Vulnerabilities in outdated software or applications.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Insider Threats</a:t>
            </a:r>
            <a:r>
              <a:rPr lang="en-US" sz="2400" dirty="0">
                <a:latin typeface="Century Gothic" panose="020B0502020202020204" pitchFamily="34" charset="0"/>
              </a:rPr>
              <a:t>: Employees or contractors misusing access to sensitive data.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Physical Theft</a:t>
            </a:r>
            <a:r>
              <a:rPr lang="en-US" sz="2400" dirty="0">
                <a:latin typeface="Century Gothic" panose="020B0502020202020204" pitchFamily="34" charset="0"/>
              </a:rPr>
              <a:t>: Loss or theft of devices containing sensitive information</a:t>
            </a:r>
            <a:r>
              <a:rPr lang="en-US" sz="2400" dirty="0" smtClean="0">
                <a:latin typeface="Century Gothic" panose="020B0502020202020204" pitchFamily="34" charset="0"/>
              </a:rPr>
              <a:t>.</a:t>
            </a:r>
            <a:endParaRPr 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breaches: Causes and mitigation measures: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800" b="1" dirty="0">
                <a:latin typeface="Century Gothic" panose="020B0502020202020204" pitchFamily="34" charset="0"/>
              </a:rPr>
              <a:t>Mitigation Measures:</a:t>
            </a:r>
            <a:endParaRPr lang="en-US" sz="28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Data Encryption</a:t>
            </a:r>
            <a:r>
              <a:rPr lang="en-US" sz="2400" dirty="0">
                <a:latin typeface="Century Gothic" panose="020B0502020202020204" pitchFamily="34" charset="0"/>
              </a:rPr>
              <a:t>: Encrypt sensitive data to protect it from unauthorized access.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Access Controls</a:t>
            </a:r>
            <a:r>
              <a:rPr lang="en-US" sz="2400" dirty="0">
                <a:latin typeface="Century Gothic" panose="020B0502020202020204" pitchFamily="34" charset="0"/>
              </a:rPr>
              <a:t>: Implement strong authentication mechanisms and limit access to data based on roles.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Incident Response Plans</a:t>
            </a:r>
            <a:r>
              <a:rPr lang="en-US" sz="2400" dirty="0">
                <a:latin typeface="Century Gothic" panose="020B0502020202020204" pitchFamily="34" charset="0"/>
              </a:rPr>
              <a:t>: Develop and test plans for responding to data breaches to minimize damage and recovery time.</a:t>
            </a:r>
          </a:p>
        </p:txBody>
      </p:sp>
    </p:spTree>
    <p:extLst>
      <p:ext uri="{BB962C8B-B14F-4D97-AF65-F5344CB8AC3E}">
        <p14:creationId xmlns:p14="http://schemas.microsoft.com/office/powerpoint/2010/main" val="363694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Insider threats: Identifying and addressing internal risks: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sz="2800" b="1" dirty="0">
                <a:latin typeface="Century Gothic" panose="020B0502020202020204" pitchFamily="34" charset="0"/>
              </a:rPr>
              <a:t>Types of Insider Threats:</a:t>
            </a:r>
            <a:endParaRPr lang="en-US" sz="28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Malicious Insiders</a:t>
            </a:r>
            <a:r>
              <a:rPr lang="en-US" sz="2400" dirty="0">
                <a:latin typeface="Century Gothic" panose="020B0502020202020204" pitchFamily="34" charset="0"/>
              </a:rPr>
              <a:t>: Employees intentionally misusing their access to harm the organization.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Negligent Insiders</a:t>
            </a:r>
            <a:r>
              <a:rPr lang="en-US" sz="2400" dirty="0">
                <a:latin typeface="Century Gothic" panose="020B0502020202020204" pitchFamily="34" charset="0"/>
              </a:rPr>
              <a:t>: Employees who unintentionally expose data through careless actions or lack of awareness.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Compromised Insiders</a:t>
            </a:r>
            <a:r>
              <a:rPr lang="en-US" sz="2400" dirty="0">
                <a:latin typeface="Century Gothic" panose="020B0502020202020204" pitchFamily="34" charset="0"/>
              </a:rPr>
              <a:t>: Employees whose credentials have been stolen and used by external attackers</a:t>
            </a:r>
            <a:r>
              <a:rPr lang="en-US" sz="2400" dirty="0" smtClean="0">
                <a:latin typeface="Century Gothic" panose="020B0502020202020204" pitchFamily="34" charset="0"/>
              </a:rPr>
              <a:t>.</a:t>
            </a:r>
            <a:endParaRPr 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77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Insider threats: Identifying and addressing internal risks: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sz="2800" b="1" dirty="0">
                <a:latin typeface="Century Gothic" panose="020B0502020202020204" pitchFamily="34" charset="0"/>
              </a:rPr>
              <a:t>Addressing Internal Risks:</a:t>
            </a:r>
            <a:endParaRPr lang="en-US" sz="28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User Activity Monitoring</a:t>
            </a:r>
            <a:r>
              <a:rPr lang="en-US" sz="2400" dirty="0">
                <a:latin typeface="Century Gothic" panose="020B0502020202020204" pitchFamily="34" charset="0"/>
              </a:rPr>
              <a:t>: Track and analyze user activity to detect unusual behavior.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Access Controls</a:t>
            </a:r>
            <a:r>
              <a:rPr lang="en-US" sz="2400" dirty="0">
                <a:latin typeface="Century Gothic" panose="020B0502020202020204" pitchFamily="34" charset="0"/>
              </a:rPr>
              <a:t>: Restrict access to sensitive data based on need-to-know principles.</a:t>
            </a:r>
          </a:p>
          <a:p>
            <a:pPr lvl="1" algn="just"/>
            <a:r>
              <a:rPr lang="en-US" sz="2400" b="1" dirty="0">
                <a:latin typeface="Century Gothic" panose="020B0502020202020204" pitchFamily="34" charset="0"/>
              </a:rPr>
              <a:t>Employee Training</a:t>
            </a:r>
            <a:r>
              <a:rPr lang="en-US" sz="2400" dirty="0">
                <a:latin typeface="Century Gothic" panose="020B0502020202020204" pitchFamily="34" charset="0"/>
              </a:rPr>
              <a:t>: Provide regular security training and awareness programs to mitigate risks from negligence.</a:t>
            </a:r>
          </a:p>
        </p:txBody>
      </p:sp>
    </p:spTree>
    <p:extLst>
      <p:ext uri="{BB962C8B-B14F-4D97-AF65-F5344CB8AC3E}">
        <p14:creationId xmlns:p14="http://schemas.microsoft.com/office/powerpoint/2010/main" val="153576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Security </a:t>
            </a:r>
            <a:r>
              <a:rPr lang="en-US" b="1" dirty="0" smtClean="0"/>
              <a:t>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66900" lvl="1" indent="-342900">
              <a:buFont typeface="+mj-lt"/>
              <a:buAutoNum type="arabicPeriod"/>
            </a:pPr>
            <a:r>
              <a:rPr lang="en-US" sz="2400" dirty="0" smtClean="0">
                <a:latin typeface="Century Gothic" panose="020B0502020202020204" pitchFamily="34" charset="0"/>
              </a:rPr>
              <a:t>Encryption</a:t>
            </a:r>
            <a:r>
              <a:rPr lang="en-US" sz="2400" dirty="0">
                <a:latin typeface="Century Gothic" panose="020B0502020202020204" pitchFamily="34" charset="0"/>
              </a:rPr>
              <a:t>: Protecting data at rest and in transit.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sz="2400" dirty="0">
                <a:latin typeface="Century Gothic" panose="020B0502020202020204" pitchFamily="34" charset="0"/>
              </a:rPr>
              <a:t>Access control: Managing user permissions and roles.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sz="2400" dirty="0">
                <a:latin typeface="Century Gothic" panose="020B0502020202020204" pitchFamily="34" charset="0"/>
              </a:rPr>
              <a:t>Authentication: Ensuring secure user access.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sz="2400" dirty="0">
                <a:latin typeface="Century Gothic" panose="020B0502020202020204" pitchFamily="34" charset="0"/>
              </a:rPr>
              <a:t>Monitoring: Continuous monitoring and threat detection</a:t>
            </a:r>
            <a:r>
              <a:rPr lang="en-US" sz="2400" dirty="0" smtClean="0">
                <a:latin typeface="Century Gothic" panose="020B0502020202020204" pitchFamily="34" charset="0"/>
              </a:rPr>
              <a:t>.</a:t>
            </a:r>
            <a:endParaRPr lang="en-US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17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Security </a:t>
            </a:r>
            <a:r>
              <a:rPr lang="en-US" b="1" dirty="0" smtClean="0"/>
              <a:t>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Century Gothic" panose="020B0502020202020204" pitchFamily="34" charset="0"/>
              </a:rPr>
              <a:t>Encryption: Protecting data at rest and in transit:</a:t>
            </a:r>
            <a:endParaRPr lang="en-US" sz="24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200" b="1" dirty="0">
                <a:latin typeface="Century Gothic" panose="020B0502020202020204" pitchFamily="34" charset="0"/>
              </a:rPr>
              <a:t>Data at Rest</a:t>
            </a:r>
            <a:r>
              <a:rPr lang="en-US" sz="2200" dirty="0">
                <a:latin typeface="Century Gothic" panose="020B0502020202020204" pitchFamily="34" charset="0"/>
              </a:rPr>
              <a:t>: Encryption of stored data (e.g., on servers, databases, or storage devices) to protect it from unauthorized access if physical security is compromised.</a:t>
            </a:r>
          </a:p>
          <a:p>
            <a:pPr lvl="1" algn="just"/>
            <a:r>
              <a:rPr lang="en-US" sz="2200" b="1" dirty="0">
                <a:latin typeface="Century Gothic" panose="020B0502020202020204" pitchFamily="34" charset="0"/>
              </a:rPr>
              <a:t>Data in Transit</a:t>
            </a:r>
            <a:r>
              <a:rPr lang="en-US" sz="2200" dirty="0">
                <a:latin typeface="Century Gothic" panose="020B0502020202020204" pitchFamily="34" charset="0"/>
              </a:rPr>
              <a:t>: Encryption of data being transmitted over networks to prevent interception and eavesdropping. Use protocols such as TLS (Transport Layer Security) for secure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70783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Security </a:t>
            </a:r>
            <a:r>
              <a:rPr lang="en-US" b="1" dirty="0" smtClean="0"/>
              <a:t>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Century Gothic" panose="020B0502020202020204" pitchFamily="34" charset="0"/>
              </a:rPr>
              <a:t>Access control: Managing user permissions and roles:</a:t>
            </a:r>
            <a:endParaRPr lang="en-US" sz="24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200" b="1" dirty="0">
                <a:latin typeface="Century Gothic" panose="020B0502020202020204" pitchFamily="34" charset="0"/>
              </a:rPr>
              <a:t>Role-Based Access Control (RBAC)</a:t>
            </a:r>
            <a:r>
              <a:rPr lang="en-US" sz="2200" dirty="0">
                <a:latin typeface="Century Gothic" panose="020B0502020202020204" pitchFamily="34" charset="0"/>
              </a:rPr>
              <a:t>: Assign permissions based on user roles within the organization, ensuring that individuals only have access to the data and systems necessary for their job functions.</a:t>
            </a:r>
          </a:p>
          <a:p>
            <a:pPr lvl="1" algn="just"/>
            <a:r>
              <a:rPr lang="en-US" sz="2200" b="1" dirty="0">
                <a:latin typeface="Century Gothic" panose="020B0502020202020204" pitchFamily="34" charset="0"/>
              </a:rPr>
              <a:t>Least Privilege Principle</a:t>
            </a:r>
            <a:r>
              <a:rPr lang="en-US" sz="2200" dirty="0">
                <a:latin typeface="Century Gothic" panose="020B0502020202020204" pitchFamily="34" charset="0"/>
              </a:rPr>
              <a:t>: Grant users the minimum level of access required to perform their tasks to reduce potential damage from unauthorized access.</a:t>
            </a:r>
          </a:p>
        </p:txBody>
      </p:sp>
    </p:spTree>
    <p:extLst>
      <p:ext uri="{BB962C8B-B14F-4D97-AF65-F5344CB8AC3E}">
        <p14:creationId xmlns:p14="http://schemas.microsoft.com/office/powerpoint/2010/main" val="77950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Security </a:t>
            </a:r>
            <a:r>
              <a:rPr lang="en-US" b="1" dirty="0" smtClean="0"/>
              <a:t>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Century Gothic" panose="020B0502020202020204" pitchFamily="34" charset="0"/>
              </a:rPr>
              <a:t>Authentication: Ensuring secure user access:</a:t>
            </a:r>
            <a:endParaRPr lang="en-US" sz="24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200" b="1" dirty="0">
                <a:latin typeface="Century Gothic" panose="020B0502020202020204" pitchFamily="34" charset="0"/>
              </a:rPr>
              <a:t>Multi-Factor Authentication (MFA)</a:t>
            </a:r>
            <a:r>
              <a:rPr lang="en-US" sz="2200" dirty="0">
                <a:latin typeface="Century Gothic" panose="020B0502020202020204" pitchFamily="34" charset="0"/>
              </a:rPr>
              <a:t>: Require users to provide two or more forms of verification (e.g., password, fingerprint, security token) to enhance security.</a:t>
            </a:r>
          </a:p>
          <a:p>
            <a:pPr lvl="1" algn="just"/>
            <a:r>
              <a:rPr lang="en-US" sz="2200" b="1" dirty="0">
                <a:latin typeface="Century Gothic" panose="020B0502020202020204" pitchFamily="34" charset="0"/>
              </a:rPr>
              <a:t>Single Sign-On (SSO)</a:t>
            </a:r>
            <a:r>
              <a:rPr lang="en-US" sz="2200" dirty="0">
                <a:latin typeface="Century Gothic" panose="020B0502020202020204" pitchFamily="34" charset="0"/>
              </a:rPr>
              <a:t>: Enable users to access multiple systems with one set of credentials, reducing password fatigue and potential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2516920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Security </a:t>
            </a:r>
            <a:r>
              <a:rPr lang="en-US" b="1" dirty="0" smtClean="0"/>
              <a:t>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Century Gothic" panose="020B0502020202020204" pitchFamily="34" charset="0"/>
              </a:rPr>
              <a:t>Monitoring: Continuous monitoring and threat detection:</a:t>
            </a:r>
            <a:endParaRPr lang="en-US" sz="24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200" b="1" dirty="0">
                <a:latin typeface="Century Gothic" panose="020B0502020202020204" pitchFamily="34" charset="0"/>
              </a:rPr>
              <a:t>Security Information and Event Management (SIEM)</a:t>
            </a:r>
            <a:r>
              <a:rPr lang="en-US" sz="2200" dirty="0">
                <a:latin typeface="Century Gothic" panose="020B0502020202020204" pitchFamily="34" charset="0"/>
              </a:rPr>
              <a:t>: Implement SIEM solutions to collect, analyze, and correlate security events across the organization.</a:t>
            </a:r>
          </a:p>
          <a:p>
            <a:pPr lvl="1" algn="just"/>
            <a:r>
              <a:rPr lang="en-US" sz="2200" b="1" dirty="0">
                <a:latin typeface="Century Gothic" panose="020B0502020202020204" pitchFamily="34" charset="0"/>
              </a:rPr>
              <a:t>Real-Time Alerts</a:t>
            </a:r>
            <a:r>
              <a:rPr lang="en-US" sz="2200" dirty="0">
                <a:latin typeface="Century Gothic" panose="020B0502020202020204" pitchFamily="34" charset="0"/>
              </a:rPr>
              <a:t>: Set up real-time monitoring and alerts for suspicious activities or potential security breaches</a:t>
            </a:r>
            <a:endParaRPr lang="en-US" sz="2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93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Compliance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 smtClean="0">
                <a:latin typeface="Century Gothic" panose="020B0502020202020204" pitchFamily="34" charset="0"/>
              </a:rPr>
              <a:t>GDPR </a:t>
            </a:r>
            <a:r>
              <a:rPr lang="en-US" sz="2400" dirty="0">
                <a:latin typeface="Century Gothic" panose="020B0502020202020204" pitchFamily="34" charset="0"/>
              </a:rPr>
              <a:t>(General Data Protection Regulation)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SOX (Sarbanes-Oxley Act)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HIPAA (Health Insurance Portability and Accountability Act)</a:t>
            </a:r>
          </a:p>
        </p:txBody>
      </p:sp>
    </p:spTree>
    <p:extLst>
      <p:ext uri="{BB962C8B-B14F-4D97-AF65-F5344CB8AC3E}">
        <p14:creationId xmlns:p14="http://schemas.microsoft.com/office/powerpoint/2010/main" val="70785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Compliance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Century Gothic" panose="020B0502020202020204" pitchFamily="34" charset="0"/>
              </a:rPr>
              <a:t>GDPR (General Data Protection Regulation):</a:t>
            </a:r>
            <a:endParaRPr lang="en-US" sz="2400" dirty="0">
              <a:latin typeface="Century Gothic" panose="020B0502020202020204" pitchFamily="34" charset="0"/>
            </a:endParaRPr>
          </a:p>
          <a:p>
            <a:pPr lvl="1"/>
            <a:r>
              <a:rPr lang="en-US" sz="2200" dirty="0" smtClean="0">
                <a:latin typeface="Century Gothic" panose="020B0502020202020204" pitchFamily="34" charset="0"/>
              </a:rPr>
              <a:t>GDPR </a:t>
            </a:r>
            <a:r>
              <a:rPr lang="en-US" sz="2200" dirty="0">
                <a:latin typeface="Century Gothic" panose="020B0502020202020204" pitchFamily="34" charset="0"/>
              </a:rPr>
              <a:t>is a regulation in the European Union that mandates data protection and privacy for individuals within the EU. It applies to organizations that handle personal data of EU residents.</a:t>
            </a:r>
          </a:p>
          <a:p>
            <a:pPr lvl="1"/>
            <a:r>
              <a:rPr lang="en-US" sz="2200" dirty="0" smtClean="0">
                <a:latin typeface="Century Gothic" panose="020B0502020202020204" pitchFamily="34" charset="0"/>
              </a:rPr>
              <a:t>Obtain </a:t>
            </a:r>
            <a:r>
              <a:rPr lang="en-US" sz="2200" dirty="0">
                <a:latin typeface="Century Gothic" panose="020B0502020202020204" pitchFamily="34" charset="0"/>
              </a:rPr>
              <a:t>explicit consent for data processing, ensure data subjects’ rights, and implement measures for data protection and breach notification.</a:t>
            </a:r>
          </a:p>
        </p:txBody>
      </p:sp>
    </p:spTree>
    <p:extLst>
      <p:ext uri="{BB962C8B-B14F-4D97-AF65-F5344CB8AC3E}">
        <p14:creationId xmlns:p14="http://schemas.microsoft.com/office/powerpoint/2010/main" val="8503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Compliance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Century Gothic" panose="020B0502020202020204" pitchFamily="34" charset="0"/>
              </a:rPr>
              <a:t>SOX (Sarbanes-Oxley Act):</a:t>
            </a:r>
            <a:endParaRPr lang="en-US" sz="24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200" dirty="0" smtClean="0">
                <a:latin typeface="Century Gothic" panose="020B0502020202020204" pitchFamily="34" charset="0"/>
              </a:rPr>
              <a:t>SOX </a:t>
            </a:r>
            <a:r>
              <a:rPr lang="en-US" sz="2200" dirty="0">
                <a:latin typeface="Century Gothic" panose="020B0502020202020204" pitchFamily="34" charset="0"/>
              </a:rPr>
              <a:t>is a U.S. law that aims to protect investors by improving the accuracy and reliability of corporate financial reporting. It applies to publicly traded companies.</a:t>
            </a:r>
          </a:p>
          <a:p>
            <a:pPr lvl="1" algn="just"/>
            <a:r>
              <a:rPr lang="en-US" sz="2200" dirty="0" smtClean="0">
                <a:latin typeface="Century Gothic" panose="020B0502020202020204" pitchFamily="34" charset="0"/>
              </a:rPr>
              <a:t>Implement </a:t>
            </a:r>
            <a:r>
              <a:rPr lang="en-US" sz="2200" dirty="0">
                <a:latin typeface="Century Gothic" panose="020B0502020202020204" pitchFamily="34" charset="0"/>
              </a:rPr>
              <a:t>internal controls and procedures for financial reporting, conduct regular audits, and ensure the accuracy of financial disclosures.</a:t>
            </a:r>
          </a:p>
        </p:txBody>
      </p:sp>
    </p:spTree>
    <p:extLst>
      <p:ext uri="{BB962C8B-B14F-4D97-AF65-F5344CB8AC3E}">
        <p14:creationId xmlns:p14="http://schemas.microsoft.com/office/powerpoint/2010/main" val="380455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Compliance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Century Gothic" panose="020B0502020202020204" pitchFamily="34" charset="0"/>
              </a:rPr>
              <a:t>HIPAA (Health Insurance Portability and Accountability Act):</a:t>
            </a:r>
            <a:endParaRPr lang="en-US" sz="2400" dirty="0">
              <a:latin typeface="Century Gothic" panose="020B0502020202020204" pitchFamily="34" charset="0"/>
            </a:endParaRPr>
          </a:p>
          <a:p>
            <a:pPr lvl="1" algn="just"/>
            <a:r>
              <a:rPr lang="en-US" sz="2200" dirty="0" smtClean="0">
                <a:latin typeface="Century Gothic" panose="020B0502020202020204" pitchFamily="34" charset="0"/>
              </a:rPr>
              <a:t>HIPAA </a:t>
            </a:r>
            <a:r>
              <a:rPr lang="en-US" sz="2200" dirty="0">
                <a:latin typeface="Century Gothic" panose="020B0502020202020204" pitchFamily="34" charset="0"/>
              </a:rPr>
              <a:t>is a U.S. law that regulates the privacy and security of healthcare information. It applies to healthcare providers, insurers, and their business associates.</a:t>
            </a:r>
          </a:p>
          <a:p>
            <a:pPr lvl="1" algn="just"/>
            <a:r>
              <a:rPr lang="en-US" sz="2200" dirty="0" smtClean="0">
                <a:latin typeface="Century Gothic" panose="020B0502020202020204" pitchFamily="34" charset="0"/>
              </a:rPr>
              <a:t>Safeguard </a:t>
            </a:r>
            <a:r>
              <a:rPr lang="en-US" sz="2200" dirty="0">
                <a:latin typeface="Century Gothic" panose="020B0502020202020204" pitchFamily="34" charset="0"/>
              </a:rPr>
              <a:t>Protected Health Information (PHI), implement administrative, physical, and technical safeguards, and ensure compliance with privacy and security rules.</a:t>
            </a:r>
          </a:p>
        </p:txBody>
      </p:sp>
    </p:spTree>
    <p:extLst>
      <p:ext uri="{BB962C8B-B14F-4D97-AF65-F5344CB8AC3E}">
        <p14:creationId xmlns:p14="http://schemas.microsoft.com/office/powerpoint/2010/main" val="15916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Best Practices for Security and </a:t>
            </a:r>
            <a:r>
              <a:rPr lang="en-US" b="1" dirty="0" smtClean="0"/>
              <a:t>Compliance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 smtClean="0">
                <a:latin typeface="Century Gothic" panose="020B0502020202020204" pitchFamily="34" charset="0"/>
              </a:rPr>
              <a:t>Regular </a:t>
            </a:r>
            <a:r>
              <a:rPr lang="en-US" sz="2400" dirty="0">
                <a:latin typeface="Century Gothic" panose="020B0502020202020204" pitchFamily="34" charset="0"/>
              </a:rPr>
              <a:t>audits and assessments.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User training and awareness programs.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Incident response planning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37155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23</TotalTime>
  <Words>1138</Words>
  <Application>Microsoft Office PowerPoint</Application>
  <PresentationFormat>Widescreen</PresentationFormat>
  <Paragraphs>97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Gill Sans MT</vt:lpstr>
      <vt:lpstr>Wingdings 2</vt:lpstr>
      <vt:lpstr>Dividend</vt:lpstr>
      <vt:lpstr>Security and Compliance in Enterprise Systems </vt:lpstr>
      <vt:lpstr>Common Security Threats</vt:lpstr>
      <vt:lpstr>Cyberattacks: Types and prevention strategies:</vt:lpstr>
      <vt:lpstr>Cyberattacks: Types and prevention strategies:</vt:lpstr>
      <vt:lpstr>Data breaches: Causes and mitigation measures:</vt:lpstr>
      <vt:lpstr>Data breaches: Causes and mitigation measures:</vt:lpstr>
      <vt:lpstr>Insider threats: Identifying and addressing internal risks:</vt:lpstr>
      <vt:lpstr>Insider threats: Identifying and addressing internal risks:</vt:lpstr>
      <vt:lpstr>Security Measures</vt:lpstr>
      <vt:lpstr>Security Measures</vt:lpstr>
      <vt:lpstr>Security Measures</vt:lpstr>
      <vt:lpstr>Security Measures</vt:lpstr>
      <vt:lpstr>Security Measures</vt:lpstr>
      <vt:lpstr>Compliance Requirements</vt:lpstr>
      <vt:lpstr>Compliance Requirements</vt:lpstr>
      <vt:lpstr>Compliance Requirements</vt:lpstr>
      <vt:lpstr>Compliance Requirements</vt:lpstr>
      <vt:lpstr>Best Practices for Security and Compliance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and Compliance in Enterprise Systems</dc:title>
  <dc:creator>HP</dc:creator>
  <cp:lastModifiedBy>HP</cp:lastModifiedBy>
  <cp:revision>6</cp:revision>
  <dcterms:created xsi:type="dcterms:W3CDTF">2025-04-28T19:53:59Z</dcterms:created>
  <dcterms:modified xsi:type="dcterms:W3CDTF">2025-04-28T20:17:58Z</dcterms:modified>
</cp:coreProperties>
</file>